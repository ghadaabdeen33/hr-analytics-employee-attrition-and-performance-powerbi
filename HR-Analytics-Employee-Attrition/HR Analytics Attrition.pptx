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4" r:id="rId5"/>
    <p:sldId id="265" r:id="rId6"/>
    <p:sldId id="259" r:id="rId7"/>
    <p:sldId id="260" r:id="rId8"/>
    <p:sldId id="261" r:id="rId9"/>
    <p:sldId id="262" r:id="rId10"/>
    <p:sldId id="263"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0B6F"/>
    <a:srgbClr val="F1518A"/>
    <a:srgbClr val="DD83AA"/>
    <a:srgbClr val="3A12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94660"/>
  </p:normalViewPr>
  <p:slideViewPr>
    <p:cSldViewPr snapToGrid="0">
      <p:cViewPr varScale="1">
        <p:scale>
          <a:sx n="67" d="100"/>
          <a:sy n="67" d="100"/>
        </p:scale>
        <p:origin x="102"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C01DFA-F391-4DF6-AFF4-BC3EF0B05D13}"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84258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01DFA-F391-4DF6-AFF4-BC3EF0B05D13}"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1108468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01DFA-F391-4DF6-AFF4-BC3EF0B05D13}"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1449128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C01DFA-F391-4DF6-AFF4-BC3EF0B05D13}" type="datetimeFigureOut">
              <a:rPr lang="en-US" smtClean="0"/>
              <a:t>8/2/2024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3252426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C01DFA-F391-4DF6-AFF4-BC3EF0B05D13}" type="datetimeFigureOut">
              <a:rPr lang="en-US" smtClean="0"/>
              <a:t>8/2/2024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6949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C01DFA-F391-4DF6-AFF4-BC3EF0B05D13}" type="datetimeFigureOut">
              <a:rPr lang="en-US" smtClean="0"/>
              <a:t>8/2/2024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3298872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C01DFA-F391-4DF6-AFF4-BC3EF0B05D13}" type="datetimeFigureOut">
              <a:rPr lang="en-US" smtClean="0"/>
              <a:t>8/2/2024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1556210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C01DFA-F391-4DF6-AFF4-BC3EF0B05D13}" type="datetimeFigureOut">
              <a:rPr lang="en-US" smtClean="0"/>
              <a:t>8/2/2024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151904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C01DFA-F391-4DF6-AFF4-BC3EF0B05D13}" type="datetimeFigureOut">
              <a:rPr lang="en-US" smtClean="0"/>
              <a:t>8/2/2024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3425597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01DFA-F391-4DF6-AFF4-BC3EF0B05D13}"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2283422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01DFA-F391-4DF6-AFF4-BC3EF0B05D13}"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3105851-B1A6-4249-A86F-0392E8D5834A}"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29450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C01DFA-F391-4DF6-AFF4-BC3EF0B05D13}" type="datetimeFigureOut">
              <a:rPr lang="en-US" smtClean="0"/>
              <a:t>8/2/2024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1908914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C01DFA-F391-4DF6-AFF4-BC3EF0B05D13}" type="datetimeFigureOut">
              <a:rPr lang="en-US" smtClean="0"/>
              <a:t>8/2/2024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3105851-B1A6-4249-A86F-0392E8D5834A}"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98823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C01DFA-F391-4DF6-AFF4-BC3EF0B05D13}" type="datetimeFigureOut">
              <a:rPr lang="en-US" smtClean="0"/>
              <a:t>8/2/2024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138341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01DFA-F391-4DF6-AFF4-BC3EF0B05D13}"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33990857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01DFA-F391-4DF6-AFF4-BC3EF0B05D13}"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3105851-B1A6-4249-A86F-0392E8D5834A}" type="slidenum">
              <a:rPr lang="en-US" smtClean="0"/>
              <a:t>‹#›</a:t>
            </a:fld>
            <a:endParaRPr lang="en-US"/>
          </a:p>
        </p:txBody>
      </p:sp>
    </p:spTree>
    <p:extLst>
      <p:ext uri="{BB962C8B-B14F-4D97-AF65-F5344CB8AC3E}">
        <p14:creationId xmlns:p14="http://schemas.microsoft.com/office/powerpoint/2010/main" val="565330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0C01DFA-F391-4DF6-AFF4-BC3EF0B05D13}" type="datetimeFigureOut">
              <a:rPr lang="en-US" smtClean="0"/>
              <a:t>8/2/2024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3105851-B1A6-4249-A86F-0392E8D5834A}" type="slidenum">
              <a:rPr lang="en-US" smtClean="0"/>
              <a:t>‹#›</a:t>
            </a:fld>
            <a:endParaRPr lang="en-US"/>
          </a:p>
        </p:txBody>
      </p:sp>
    </p:spTree>
    <p:extLst>
      <p:ext uri="{BB962C8B-B14F-4D97-AF65-F5344CB8AC3E}">
        <p14:creationId xmlns:p14="http://schemas.microsoft.com/office/powerpoint/2010/main" val="1395634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59827-F886-496D-A093-6ED31E6139CA}"/>
              </a:ext>
            </a:extLst>
          </p:cNvPr>
          <p:cNvSpPr>
            <a:spLocks noGrp="1"/>
          </p:cNvSpPr>
          <p:nvPr>
            <p:ph type="ctrTitle"/>
          </p:nvPr>
        </p:nvSpPr>
        <p:spPr/>
        <p:txBody>
          <a:bodyPr/>
          <a:lstStyle/>
          <a:p>
            <a:r>
              <a:rPr lang="en-US" dirty="0">
                <a:latin typeface="Arial" panose="020B0604020202020204" pitchFamily="34" charset="0"/>
                <a:cs typeface="Arial" panose="020B0604020202020204" pitchFamily="34" charset="0"/>
              </a:rPr>
              <a:t>HR Analytics Attrition</a:t>
            </a:r>
          </a:p>
        </p:txBody>
      </p:sp>
    </p:spTree>
    <p:extLst>
      <p:ext uri="{BB962C8B-B14F-4D97-AF65-F5344CB8AC3E}">
        <p14:creationId xmlns:p14="http://schemas.microsoft.com/office/powerpoint/2010/main" val="706306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FBE7B-B4A7-4B9E-B212-7C028A3FCFD2}"/>
              </a:ext>
            </a:extLst>
          </p:cNvPr>
          <p:cNvSpPr>
            <a:spLocks noGrp="1"/>
          </p:cNvSpPr>
          <p:nvPr>
            <p:ph type="title"/>
          </p:nvPr>
        </p:nvSpPr>
        <p:spPr/>
        <p:txBody>
          <a:bodyPr/>
          <a:lstStyle/>
          <a:p>
            <a:r>
              <a:rPr lang="en-US" b="1" i="0" dirty="0">
                <a:solidFill>
                  <a:srgbClr val="1F2328"/>
                </a:solidFill>
                <a:effectLst/>
                <a:latin typeface="-apple-system"/>
              </a:rPr>
              <a:t>HR ANALYTICS</a:t>
            </a:r>
            <a:br>
              <a:rPr lang="en-US" b="1" i="0" dirty="0">
                <a:solidFill>
                  <a:srgbClr val="1F2328"/>
                </a:solidFill>
                <a:effectLst/>
                <a:latin typeface="-apple-system"/>
              </a:rPr>
            </a:br>
            <a:endParaRPr lang="en-US" dirty="0"/>
          </a:p>
        </p:txBody>
      </p:sp>
      <p:sp>
        <p:nvSpPr>
          <p:cNvPr id="3" name="Content Placeholder 2">
            <a:extLst>
              <a:ext uri="{FF2B5EF4-FFF2-40B4-BE49-F238E27FC236}">
                <a16:creationId xmlns:a16="http://schemas.microsoft.com/office/drawing/2014/main" id="{2BB95E67-FA38-4781-9CE8-6F9B3A576677}"/>
              </a:ext>
            </a:extLst>
          </p:cNvPr>
          <p:cNvSpPr>
            <a:spLocks noGrp="1"/>
          </p:cNvSpPr>
          <p:nvPr>
            <p:ph idx="1"/>
          </p:nvPr>
        </p:nvSpPr>
        <p:spPr/>
        <p:txBody>
          <a:bodyPr/>
          <a:lstStyle/>
          <a:p>
            <a:r>
              <a:rPr lang="en-US" sz="2000" b="0" i="0" dirty="0">
                <a:solidFill>
                  <a:srgbClr val="1F2328"/>
                </a:solidFill>
                <a:effectLst/>
                <a:latin typeface="Arial" panose="020B0604020202020204" pitchFamily="34" charset="0"/>
                <a:cs typeface="Arial" panose="020B0604020202020204" pitchFamily="34" charset="0"/>
              </a:rPr>
              <a:t>HR analytics is the process of collecting and analyzing Human Resource (HR) data in order to improve an organization’s workforce performance. The process can also be referred to as talent analytics, people analytics, or even workforce analytics. This method of data analysis takes data that is routinely collected by HR and correlates it to HR and organizational objectives. Doing so provides measured evidence of how HR initiatives are contributing to the organization’s goals and strategies</a:t>
            </a:r>
            <a:r>
              <a:rPr lang="en-US" b="0" i="0" dirty="0">
                <a:solidFill>
                  <a:srgbClr val="1F2328"/>
                </a:solidFill>
                <a:effectLst/>
                <a:latin typeface="-apple-system"/>
              </a:rPr>
              <a:t>.</a:t>
            </a:r>
            <a:endParaRPr lang="en-US" dirty="0"/>
          </a:p>
        </p:txBody>
      </p:sp>
    </p:spTree>
    <p:extLst>
      <p:ext uri="{BB962C8B-B14F-4D97-AF65-F5344CB8AC3E}">
        <p14:creationId xmlns:p14="http://schemas.microsoft.com/office/powerpoint/2010/main" val="131212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CD291-77E4-4DE9-AC41-306AA7AC8755}"/>
              </a:ext>
            </a:extLst>
          </p:cNvPr>
          <p:cNvSpPr>
            <a:spLocks noGrp="1"/>
          </p:cNvSpPr>
          <p:nvPr>
            <p:ph type="title"/>
          </p:nvPr>
        </p:nvSpPr>
        <p:spPr/>
        <p:txBody>
          <a:bodyPr/>
          <a:lstStyle/>
          <a:p>
            <a:r>
              <a:rPr lang="en-US" b="1" i="0" dirty="0">
                <a:solidFill>
                  <a:srgbClr val="1F2328"/>
                </a:solidFill>
                <a:effectLst/>
                <a:latin typeface="-apple-system"/>
              </a:rPr>
              <a:t>OBJECTIVE</a:t>
            </a:r>
            <a:br>
              <a:rPr lang="en-US" b="1" i="0" dirty="0">
                <a:solidFill>
                  <a:srgbClr val="1F2328"/>
                </a:solidFill>
                <a:effectLst/>
                <a:latin typeface="-apple-system"/>
              </a:rPr>
            </a:br>
            <a:endParaRPr lang="en-US" dirty="0"/>
          </a:p>
        </p:txBody>
      </p:sp>
      <p:sp>
        <p:nvSpPr>
          <p:cNvPr id="3" name="Content Placeholder 2">
            <a:extLst>
              <a:ext uri="{FF2B5EF4-FFF2-40B4-BE49-F238E27FC236}">
                <a16:creationId xmlns:a16="http://schemas.microsoft.com/office/drawing/2014/main" id="{D53F02CA-26BD-444B-88E2-A6494D121F93}"/>
              </a:ext>
            </a:extLst>
          </p:cNvPr>
          <p:cNvSpPr>
            <a:spLocks noGrp="1"/>
          </p:cNvSpPr>
          <p:nvPr>
            <p:ph idx="1"/>
          </p:nvPr>
        </p:nvSpPr>
        <p:spPr/>
        <p:txBody>
          <a:bodyPr>
            <a:normAutofit/>
          </a:bodyPr>
          <a:lstStyle/>
          <a:p>
            <a:r>
              <a:rPr lang="en-US" sz="2400" b="0" i="0" dirty="0">
                <a:solidFill>
                  <a:srgbClr val="1F2328"/>
                </a:solidFill>
                <a:effectLst/>
                <a:latin typeface="-apple-system"/>
              </a:rPr>
              <a:t>Employee attrition is the rate at which employees leave a company. The goal of this analysis is to model employee attrition and determine the most dominant contributing factors that govern this turnover. Through this kind of analysis, we can understand how many employees are likely to leave, while also determining which employees are at the highest risk and for what reasons.</a:t>
            </a:r>
            <a:endParaRPr lang="en-US" sz="2400" dirty="0"/>
          </a:p>
        </p:txBody>
      </p:sp>
    </p:spTree>
    <p:extLst>
      <p:ext uri="{BB962C8B-B14F-4D97-AF65-F5344CB8AC3E}">
        <p14:creationId xmlns:p14="http://schemas.microsoft.com/office/powerpoint/2010/main" val="382817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1F09C-C496-4EDB-8348-48AC6B59DC9C}"/>
              </a:ext>
            </a:extLst>
          </p:cNvPr>
          <p:cNvSpPr>
            <a:spLocks noGrp="1"/>
          </p:cNvSpPr>
          <p:nvPr>
            <p:ph type="title"/>
          </p:nvPr>
        </p:nvSpPr>
        <p:spPr>
          <a:xfrm>
            <a:off x="2932112" y="2694600"/>
            <a:ext cx="8915399" cy="1468800"/>
          </a:xfrm>
        </p:spPr>
        <p:txBody>
          <a:bodyPr>
            <a:normAutofit/>
          </a:bodyPr>
          <a:lstStyle/>
          <a:p>
            <a:r>
              <a:rPr lang="en-US" sz="4400" dirty="0">
                <a:latin typeface="Arial" panose="020B0604020202020204" pitchFamily="34" charset="0"/>
                <a:cs typeface="Arial" panose="020B0604020202020204" pitchFamily="34" charset="0"/>
              </a:rPr>
              <a:t>HR Analytics For Attritions Insights</a:t>
            </a:r>
          </a:p>
        </p:txBody>
      </p:sp>
    </p:spTree>
    <p:extLst>
      <p:ext uri="{BB962C8B-B14F-4D97-AF65-F5344CB8AC3E}">
        <p14:creationId xmlns:p14="http://schemas.microsoft.com/office/powerpoint/2010/main" val="3562163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1DBF-035D-4AB9-A761-26ABC91354BB}"/>
              </a:ext>
            </a:extLst>
          </p:cNvPr>
          <p:cNvSpPr>
            <a:spLocks noGrp="1"/>
          </p:cNvSpPr>
          <p:nvPr>
            <p:ph type="title"/>
          </p:nvPr>
        </p:nvSpPr>
        <p:spPr/>
        <p:txBody>
          <a:bodyPr/>
          <a:lstStyle/>
          <a:p>
            <a:r>
              <a:rPr lang="en-US" dirty="0"/>
              <a:t>Some Measures</a:t>
            </a:r>
          </a:p>
        </p:txBody>
      </p:sp>
      <p:sp>
        <p:nvSpPr>
          <p:cNvPr id="3" name="Content Placeholder 2">
            <a:extLst>
              <a:ext uri="{FF2B5EF4-FFF2-40B4-BE49-F238E27FC236}">
                <a16:creationId xmlns:a16="http://schemas.microsoft.com/office/drawing/2014/main" id="{65A3D438-512C-4208-A22E-8931EE7CCF46}"/>
              </a:ext>
            </a:extLst>
          </p:cNvPr>
          <p:cNvSpPr>
            <a:spLocks noGrp="1"/>
          </p:cNvSpPr>
          <p:nvPr>
            <p:ph idx="1"/>
          </p:nvPr>
        </p:nvSpPr>
        <p:spPr/>
        <p:txBody>
          <a:bodyPr/>
          <a:lstStyle/>
          <a:p>
            <a:r>
              <a:rPr lang="en-US" sz="2000" dirty="0">
                <a:latin typeface="Arial" panose="020B0604020202020204" pitchFamily="34" charset="0"/>
                <a:cs typeface="Arial" panose="020B0604020202020204" pitchFamily="34" charset="0"/>
              </a:rPr>
              <a:t>Total Employees: 1,470</a:t>
            </a:r>
          </a:p>
          <a:p>
            <a:r>
              <a:rPr lang="en-US" sz="2000" dirty="0">
                <a:latin typeface="Arial" panose="020B0604020202020204" pitchFamily="34" charset="0"/>
                <a:cs typeface="Arial" panose="020B0604020202020204" pitchFamily="34" charset="0"/>
              </a:rPr>
              <a:t>Active Employees:1,233</a:t>
            </a:r>
          </a:p>
          <a:p>
            <a:r>
              <a:rPr lang="en-US" sz="2000" dirty="0">
                <a:latin typeface="Arial" panose="020B0604020202020204" pitchFamily="34" charset="0"/>
                <a:cs typeface="Arial" panose="020B0604020202020204" pitchFamily="34" charset="0"/>
              </a:rPr>
              <a:t>Attrition:237</a:t>
            </a:r>
          </a:p>
          <a:p>
            <a:r>
              <a:rPr lang="en-US" sz="2000" dirty="0">
                <a:latin typeface="Arial" panose="020B0604020202020204" pitchFamily="34" charset="0"/>
                <a:cs typeface="Arial" panose="020B0604020202020204" pitchFamily="34" charset="0"/>
              </a:rPr>
              <a:t>Attrition Rate:16.12%.</a:t>
            </a:r>
          </a:p>
          <a:p>
            <a:r>
              <a:rPr lang="en-US" sz="2000" dirty="0">
                <a:latin typeface="Arial" panose="020B0604020202020204" pitchFamily="34" charset="0"/>
                <a:cs typeface="Arial" panose="020B0604020202020204" pitchFamily="34" charset="0"/>
              </a:rPr>
              <a:t> average age of the employees, which is 36.92 years.</a:t>
            </a:r>
          </a:p>
          <a:p>
            <a:r>
              <a:rPr lang="en-US" sz="2000" dirty="0">
                <a:latin typeface="Arial" panose="020B0604020202020204" pitchFamily="34" charset="0"/>
                <a:cs typeface="Arial" panose="020B0604020202020204" pitchFamily="34" charset="0"/>
              </a:rPr>
              <a:t>the average number of years employees have worked at the company:11.28 years.</a:t>
            </a:r>
          </a:p>
          <a:p>
            <a:pPr marL="0" indent="0">
              <a:buNone/>
            </a:pPr>
            <a:endParaRPr lang="en-US" dirty="0"/>
          </a:p>
        </p:txBody>
      </p:sp>
    </p:spTree>
    <p:extLst>
      <p:ext uri="{BB962C8B-B14F-4D97-AF65-F5344CB8AC3E}">
        <p14:creationId xmlns:p14="http://schemas.microsoft.com/office/powerpoint/2010/main" val="1486038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F01D-B1FF-428D-B8D7-CE370C179F53}"/>
              </a:ext>
            </a:extLst>
          </p:cNvPr>
          <p:cNvSpPr>
            <a:spLocks noGrp="1"/>
          </p:cNvSpPr>
          <p:nvPr>
            <p:ph type="title"/>
          </p:nvPr>
        </p:nvSpPr>
        <p:spPr>
          <a:xfrm>
            <a:off x="542925" y="1285874"/>
            <a:ext cx="4972052" cy="3286126"/>
          </a:xfrm>
        </p:spPr>
        <p:txBody>
          <a:bodyPr>
            <a:normAutofit/>
          </a:bodyPr>
          <a:lstStyle/>
          <a:p>
            <a:r>
              <a:rPr lang="en-US" sz="2000" dirty="0">
                <a:latin typeface="Arial" panose="020B0604020202020204" pitchFamily="34" charset="0"/>
                <a:cs typeface="Arial" panose="020B0604020202020204" pitchFamily="34" charset="0"/>
              </a:rPr>
              <a:t>The job roles with the highest attrition are: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 Laboratory Technicians: 78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-Sales Executives: 60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 Research Scientists: 51 </a:t>
            </a:r>
            <a:br>
              <a:rPr lang="en-US" sz="2000" dirty="0">
                <a:solidFill>
                  <a:srgbClr val="3A1227"/>
                </a:solidFill>
                <a:latin typeface="Arial" panose="020B0604020202020204" pitchFamily="34" charset="0"/>
                <a:cs typeface="Arial" panose="020B0604020202020204" pitchFamily="34" charset="0"/>
              </a:rPr>
            </a:br>
            <a:r>
              <a:rPr lang="en-US" sz="2000" dirty="0">
                <a:solidFill>
                  <a:srgbClr val="3A1227"/>
                </a:solidFill>
                <a:latin typeface="Arial" panose="020B0604020202020204" pitchFamily="34" charset="0"/>
                <a:cs typeface="Arial" panose="020B0604020202020204" pitchFamily="34" charset="0"/>
              </a:rPr>
              <a:t> </a:t>
            </a:r>
          </a:p>
        </p:txBody>
      </p:sp>
      <p:pic>
        <p:nvPicPr>
          <p:cNvPr id="5" name="Content Placeholder 4">
            <a:extLst>
              <a:ext uri="{FF2B5EF4-FFF2-40B4-BE49-F238E27FC236}">
                <a16:creationId xmlns:a16="http://schemas.microsoft.com/office/drawing/2014/main" id="{CDA5C0C6-264D-4835-8C6D-329C80D7BD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43562" y="180784"/>
            <a:ext cx="6305549" cy="6462904"/>
          </a:xfrm>
        </p:spPr>
      </p:pic>
    </p:spTree>
    <p:extLst>
      <p:ext uri="{BB962C8B-B14F-4D97-AF65-F5344CB8AC3E}">
        <p14:creationId xmlns:p14="http://schemas.microsoft.com/office/powerpoint/2010/main" val="1598784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65574-034A-443D-BE78-549FA92435A5}"/>
              </a:ext>
            </a:extLst>
          </p:cNvPr>
          <p:cNvSpPr>
            <a:spLocks noGrp="1"/>
          </p:cNvSpPr>
          <p:nvPr>
            <p:ph type="title"/>
          </p:nvPr>
        </p:nvSpPr>
        <p:spPr>
          <a:xfrm>
            <a:off x="1285875" y="624110"/>
            <a:ext cx="3200399" cy="5433790"/>
          </a:xfrm>
        </p:spPr>
        <p:txBody>
          <a:bodyPr>
            <a:normAutofit/>
          </a:bodyPr>
          <a:lstStyle/>
          <a:p>
            <a:r>
              <a:rPr lang="en-US" sz="2000" dirty="0">
                <a:latin typeface="Arial" panose="020B0604020202020204" pitchFamily="34" charset="0"/>
                <a:cs typeface="Arial" panose="020B0604020202020204" pitchFamily="34" charset="0"/>
              </a:rPr>
              <a:t>The attrition count is highest among employees who have been with the company for a shorter duration. There is a sharp decline in attrition as tenure increases, suggesting that early career stages are critical for retention efforts</a:t>
            </a:r>
          </a:p>
        </p:txBody>
      </p:sp>
      <p:pic>
        <p:nvPicPr>
          <p:cNvPr id="5" name="Content Placeholder 4">
            <a:extLst>
              <a:ext uri="{FF2B5EF4-FFF2-40B4-BE49-F238E27FC236}">
                <a16:creationId xmlns:a16="http://schemas.microsoft.com/office/drawing/2014/main" id="{AB1ADD0C-F314-4D4F-BE0C-4B0BA7A2A6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8200" y="909587"/>
            <a:ext cx="7343775" cy="5038825"/>
          </a:xfrm>
        </p:spPr>
      </p:pic>
    </p:spTree>
    <p:extLst>
      <p:ext uri="{BB962C8B-B14F-4D97-AF65-F5344CB8AC3E}">
        <p14:creationId xmlns:p14="http://schemas.microsoft.com/office/powerpoint/2010/main" val="2117901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6C4C5-89E6-478B-A88E-5AC18990CF68}"/>
              </a:ext>
            </a:extLst>
          </p:cNvPr>
          <p:cNvSpPr>
            <a:spLocks noGrp="1"/>
          </p:cNvSpPr>
          <p:nvPr>
            <p:ph type="title"/>
          </p:nvPr>
        </p:nvSpPr>
        <p:spPr>
          <a:xfrm>
            <a:off x="371475" y="1338483"/>
            <a:ext cx="4672013" cy="3576415"/>
          </a:xfrm>
        </p:spPr>
        <p:txBody>
          <a:bodyPr>
            <a:normAutofit/>
          </a:bodyPr>
          <a:lstStyle/>
          <a:p>
            <a:r>
              <a:rPr lang="en-US" sz="2000" dirty="0">
                <a:latin typeface="Arial" panose="020B0604020202020204" pitchFamily="34" charset="0"/>
                <a:cs typeface="Arial" panose="020B0604020202020204" pitchFamily="34" charset="0"/>
              </a:rPr>
              <a:t> Departments with the highest attrition are:     </a:t>
            </a:r>
            <a:br>
              <a:rPr lang="ar-EG"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Research &amp; Development: 133 (56.12%)    </a:t>
            </a:r>
            <a:br>
              <a:rPr lang="ar-EG"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 Sales: 92 (38.82%)  </a:t>
            </a:r>
            <a:br>
              <a:rPr lang="ar-EG"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 Targeted interventions in these departments could help reduce turnover and improve overall departmental stability.</a:t>
            </a:r>
          </a:p>
        </p:txBody>
      </p:sp>
      <p:pic>
        <p:nvPicPr>
          <p:cNvPr id="5" name="Content Placeholder 4">
            <a:extLst>
              <a:ext uri="{FF2B5EF4-FFF2-40B4-BE49-F238E27FC236}">
                <a16:creationId xmlns:a16="http://schemas.microsoft.com/office/drawing/2014/main" id="{D36AEFC7-825C-432A-941A-961C87205A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43488" y="731053"/>
            <a:ext cx="7043737" cy="5755471"/>
          </a:xfrm>
        </p:spPr>
      </p:pic>
    </p:spTree>
    <p:extLst>
      <p:ext uri="{BB962C8B-B14F-4D97-AF65-F5344CB8AC3E}">
        <p14:creationId xmlns:p14="http://schemas.microsoft.com/office/powerpoint/2010/main" val="2125624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EEC97-A877-4192-9D8D-41BDE47193A4}"/>
              </a:ext>
            </a:extLst>
          </p:cNvPr>
          <p:cNvSpPr>
            <a:spLocks noGrp="1"/>
          </p:cNvSpPr>
          <p:nvPr>
            <p:ph type="title"/>
          </p:nvPr>
        </p:nvSpPr>
        <p:spPr>
          <a:xfrm>
            <a:off x="728664" y="1640792"/>
            <a:ext cx="4614862" cy="3576415"/>
          </a:xfrm>
        </p:spPr>
        <p:txBody>
          <a:bodyPr>
            <a:noAutofit/>
          </a:bodyPr>
          <a:lstStyle/>
          <a:p>
            <a:r>
              <a:rPr lang="en-US" sz="2000" dirty="0">
                <a:latin typeface="Arial" panose="020B0604020202020204" pitchFamily="34" charset="0"/>
                <a:cs typeface="Arial" panose="020B0604020202020204" pitchFamily="34" charset="0"/>
              </a:rPr>
              <a:t>The majority are from Life Sciences (133, 56.12%), followed by Medical (99, 41.77%)</a:t>
            </a:r>
          </a:p>
        </p:txBody>
      </p:sp>
      <p:pic>
        <p:nvPicPr>
          <p:cNvPr id="5" name="Content Placeholder 4">
            <a:extLst>
              <a:ext uri="{FF2B5EF4-FFF2-40B4-BE49-F238E27FC236}">
                <a16:creationId xmlns:a16="http://schemas.microsoft.com/office/drawing/2014/main" id="{68AB35FA-11E2-4D67-8CDD-E76AFDBA71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29289" y="917295"/>
            <a:ext cx="6329362" cy="5554943"/>
          </a:xfrm>
        </p:spPr>
      </p:pic>
    </p:spTree>
    <p:extLst>
      <p:ext uri="{BB962C8B-B14F-4D97-AF65-F5344CB8AC3E}">
        <p14:creationId xmlns:p14="http://schemas.microsoft.com/office/powerpoint/2010/main" val="1288726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10B4D-B693-43A8-BE0A-E317E11B29C1}"/>
              </a:ext>
            </a:extLst>
          </p:cNvPr>
          <p:cNvSpPr>
            <a:spLocks noGrp="1"/>
          </p:cNvSpPr>
          <p:nvPr>
            <p:ph type="title"/>
          </p:nvPr>
        </p:nvSpPr>
        <p:spPr>
          <a:xfrm>
            <a:off x="928689" y="1395635"/>
            <a:ext cx="3829050" cy="1519016"/>
          </a:xfrm>
        </p:spPr>
        <p:txBody>
          <a:bodyPr>
            <a:normAutofit/>
          </a:bodyPr>
          <a:lstStyle/>
          <a:p>
            <a:r>
              <a:rPr lang="en-US" sz="2000" dirty="0">
                <a:latin typeface="Arial" panose="020B0604020202020204" pitchFamily="34" charset="0"/>
                <a:cs typeface="Arial" panose="020B0604020202020204" pitchFamily="34" charset="0"/>
              </a:rPr>
              <a:t>The highest attrition rate is among employees aged 18-29 (27.91%), followed by those aged 30-39 (14.31%).</a:t>
            </a:r>
          </a:p>
        </p:txBody>
      </p:sp>
      <p:pic>
        <p:nvPicPr>
          <p:cNvPr id="5" name="Content Placeholder 4">
            <a:extLst>
              <a:ext uri="{FF2B5EF4-FFF2-40B4-BE49-F238E27FC236}">
                <a16:creationId xmlns:a16="http://schemas.microsoft.com/office/drawing/2014/main" id="{88E2AE6A-B30F-4E06-912E-E4F8DB630D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14913" y="399208"/>
            <a:ext cx="6729412" cy="6059584"/>
          </a:xfrm>
        </p:spPr>
      </p:pic>
    </p:spTree>
    <p:extLst>
      <p:ext uri="{BB962C8B-B14F-4D97-AF65-F5344CB8AC3E}">
        <p14:creationId xmlns:p14="http://schemas.microsoft.com/office/powerpoint/2010/main" val="2272523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AD16C-85A8-4194-A3DA-1D101D3AB1C7}"/>
              </a:ext>
            </a:extLst>
          </p:cNvPr>
          <p:cNvSpPr>
            <a:spLocks noGrp="1"/>
          </p:cNvSpPr>
          <p:nvPr>
            <p:ph type="title"/>
          </p:nvPr>
        </p:nvSpPr>
        <p:spPr>
          <a:xfrm>
            <a:off x="1900238" y="2694600"/>
            <a:ext cx="10291762" cy="1468800"/>
          </a:xfrm>
        </p:spPr>
        <p:txBody>
          <a:bodyPr/>
          <a:lstStyle/>
          <a:p>
            <a:r>
              <a:rPr lang="en-US" sz="4000" dirty="0">
                <a:latin typeface="Arial" panose="020B0604020202020204" pitchFamily="34" charset="0"/>
                <a:cs typeface="Arial" panose="020B0604020202020204" pitchFamily="34" charset="0"/>
              </a:rPr>
              <a:t>HR Analytics For Active Employee Insights</a:t>
            </a:r>
            <a:endParaRPr lang="en-US" dirty="0"/>
          </a:p>
        </p:txBody>
      </p:sp>
    </p:spTree>
    <p:extLst>
      <p:ext uri="{BB962C8B-B14F-4D97-AF65-F5344CB8AC3E}">
        <p14:creationId xmlns:p14="http://schemas.microsoft.com/office/powerpoint/2010/main" val="4184312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84CC0-9014-4B41-9495-8414E7DBD881}"/>
              </a:ext>
            </a:extLst>
          </p:cNvPr>
          <p:cNvSpPr>
            <a:spLocks noGrp="1"/>
          </p:cNvSpPr>
          <p:nvPr>
            <p:ph type="title"/>
          </p:nvPr>
        </p:nvSpPr>
        <p:spPr>
          <a:xfrm>
            <a:off x="538978" y="1436004"/>
            <a:ext cx="4942660" cy="3364596"/>
          </a:xfrm>
        </p:spPr>
        <p:txBody>
          <a:bodyPr>
            <a:noAutofit/>
          </a:bodyPr>
          <a:lstStyle/>
          <a:p>
            <a:r>
              <a:rPr lang="en-US" sz="2000" dirty="0">
                <a:latin typeface="Arial" panose="020B0604020202020204" pitchFamily="34" charset="0"/>
                <a:cs typeface="Arial" panose="020B0604020202020204" pitchFamily="34" charset="0"/>
              </a:rPr>
              <a:t>This table displays the job satisfaction rating for different job roles on a scale from 1 to 4. The total count of ratings for each job role is also </a:t>
            </a:r>
            <a:r>
              <a:rPr lang="en-US" sz="2000" dirty="0" err="1">
                <a:latin typeface="Arial" panose="020B0604020202020204" pitchFamily="34" charset="0"/>
                <a:cs typeface="Arial" panose="020B0604020202020204" pitchFamily="34" charset="0"/>
              </a:rPr>
              <a:t>shown.For</a:t>
            </a:r>
            <a:r>
              <a:rPr lang="en-US" sz="2000" dirty="0">
                <a:latin typeface="Arial" panose="020B0604020202020204" pitchFamily="34" charset="0"/>
                <a:cs typeface="Arial" panose="020B0604020202020204" pitchFamily="34" charset="0"/>
              </a:rPr>
              <a:t> example, the "Healthcare Representative" role has a total of 131 ratings distributed across the satisfaction levels</a:t>
            </a:r>
          </a:p>
        </p:txBody>
      </p:sp>
      <p:pic>
        <p:nvPicPr>
          <p:cNvPr id="5" name="Content Placeholder 4">
            <a:extLst>
              <a:ext uri="{FF2B5EF4-FFF2-40B4-BE49-F238E27FC236}">
                <a16:creationId xmlns:a16="http://schemas.microsoft.com/office/drawing/2014/main" id="{97884C66-BD5A-4873-8FA7-03D3116F1F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0251" y="587375"/>
            <a:ext cx="6096000" cy="5683249"/>
          </a:xfrm>
        </p:spPr>
      </p:pic>
    </p:spTree>
    <p:extLst>
      <p:ext uri="{BB962C8B-B14F-4D97-AF65-F5344CB8AC3E}">
        <p14:creationId xmlns:p14="http://schemas.microsoft.com/office/powerpoint/2010/main" val="1214760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A1267-43F5-4A7C-ABF0-1D59AE675A25}"/>
              </a:ext>
            </a:extLst>
          </p:cNvPr>
          <p:cNvSpPr>
            <a:spLocks noGrp="1"/>
          </p:cNvSpPr>
          <p:nvPr>
            <p:ph type="title"/>
          </p:nvPr>
        </p:nvSpPr>
        <p:spPr>
          <a:xfrm>
            <a:off x="1028701" y="1409558"/>
            <a:ext cx="4357687" cy="1719405"/>
          </a:xfrm>
        </p:spPr>
        <p:txBody>
          <a:bodyPr>
            <a:noAutofit/>
          </a:bodyPr>
          <a:lstStyle/>
          <a:p>
            <a:r>
              <a:rPr lang="en-US" sz="2000" dirty="0">
                <a:latin typeface="Arial" panose="020B0604020202020204" pitchFamily="34" charset="0"/>
                <a:cs typeface="Arial" panose="020B0604020202020204" pitchFamily="34" charset="0"/>
              </a:rPr>
              <a:t>The majority of employees have a background in Life Sciences (58.15%), followed by Medical (38.36%) and Marketing (3.49%)</a:t>
            </a:r>
          </a:p>
        </p:txBody>
      </p:sp>
      <p:pic>
        <p:nvPicPr>
          <p:cNvPr id="5" name="Content Placeholder 4">
            <a:extLst>
              <a:ext uri="{FF2B5EF4-FFF2-40B4-BE49-F238E27FC236}">
                <a16:creationId xmlns:a16="http://schemas.microsoft.com/office/drawing/2014/main" id="{A70BEF2B-EBEC-4119-B7EE-9D51C860D8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86388" y="809483"/>
            <a:ext cx="6529387" cy="5562741"/>
          </a:xfrm>
        </p:spPr>
      </p:pic>
    </p:spTree>
    <p:extLst>
      <p:ext uri="{BB962C8B-B14F-4D97-AF65-F5344CB8AC3E}">
        <p14:creationId xmlns:p14="http://schemas.microsoft.com/office/powerpoint/2010/main" val="40471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DC308-17D9-4093-99B8-51C235079E08}"/>
              </a:ext>
            </a:extLst>
          </p:cNvPr>
          <p:cNvSpPr>
            <a:spLocks noGrp="1"/>
          </p:cNvSpPr>
          <p:nvPr>
            <p:ph type="title"/>
          </p:nvPr>
        </p:nvSpPr>
        <p:spPr>
          <a:xfrm>
            <a:off x="1928812" y="881285"/>
            <a:ext cx="3271838" cy="2804890"/>
          </a:xfrm>
        </p:spPr>
        <p:txBody>
          <a:bodyPr>
            <a:normAutofit/>
          </a:bodyPr>
          <a:lstStyle/>
          <a:p>
            <a:r>
              <a:rPr lang="en-US" sz="2000" dirty="0">
                <a:latin typeface="Arial" panose="020B0604020202020204" pitchFamily="34" charset="0"/>
                <a:cs typeface="Arial" panose="020B0604020202020204" pitchFamily="34" charset="0"/>
              </a:rPr>
              <a:t>The age groups shown are 30-39, 40-49, 18-29, and 50-60, with the majority of employees in the 30-39 age group (622 employees).</a:t>
            </a:r>
          </a:p>
        </p:txBody>
      </p:sp>
      <p:pic>
        <p:nvPicPr>
          <p:cNvPr id="5" name="Content Placeholder 4">
            <a:extLst>
              <a:ext uri="{FF2B5EF4-FFF2-40B4-BE49-F238E27FC236}">
                <a16:creationId xmlns:a16="http://schemas.microsoft.com/office/drawing/2014/main" id="{0FDEE387-A011-41C7-9CD0-6E9D2F97FF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43574" y="621506"/>
            <a:ext cx="6275669" cy="5614987"/>
          </a:xfrm>
        </p:spPr>
      </p:pic>
    </p:spTree>
    <p:extLst>
      <p:ext uri="{BB962C8B-B14F-4D97-AF65-F5344CB8AC3E}">
        <p14:creationId xmlns:p14="http://schemas.microsoft.com/office/powerpoint/2010/main" val="3801368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CC2B0-0816-4899-AA51-78D0AD2117DB}"/>
              </a:ext>
            </a:extLst>
          </p:cNvPr>
          <p:cNvSpPr>
            <a:spLocks noGrp="1"/>
          </p:cNvSpPr>
          <p:nvPr>
            <p:ph type="title"/>
          </p:nvPr>
        </p:nvSpPr>
        <p:spPr>
          <a:xfrm>
            <a:off x="1585913" y="1138460"/>
            <a:ext cx="4510087" cy="3404966"/>
          </a:xfrm>
        </p:spPr>
        <p:txBody>
          <a:bodyPr>
            <a:noAutofit/>
          </a:bodyPr>
          <a:lstStyle/>
          <a:p>
            <a:r>
              <a:rPr lang="en-US" sz="2000" dirty="0">
                <a:latin typeface="Arial" panose="020B0604020202020204" pitchFamily="34" charset="0"/>
                <a:cs typeface="Arial" panose="020B0604020202020204" pitchFamily="34" charset="0"/>
              </a:rPr>
              <a:t>The ratings are evenly distributed among "Human Resources," "Research &amp; Development," and "Sales,"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each with approximately 33.33% of the total ratings.</a:t>
            </a:r>
          </a:p>
        </p:txBody>
      </p:sp>
      <p:pic>
        <p:nvPicPr>
          <p:cNvPr id="5" name="Content Placeholder 4">
            <a:extLst>
              <a:ext uri="{FF2B5EF4-FFF2-40B4-BE49-F238E27FC236}">
                <a16:creationId xmlns:a16="http://schemas.microsoft.com/office/drawing/2014/main" id="{5028A1C0-1312-4556-A6A7-A66CD0328F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53164" y="719249"/>
            <a:ext cx="5576886" cy="5419502"/>
          </a:xfrm>
        </p:spPr>
      </p:pic>
    </p:spTree>
    <p:extLst>
      <p:ext uri="{BB962C8B-B14F-4D97-AF65-F5344CB8AC3E}">
        <p14:creationId xmlns:p14="http://schemas.microsoft.com/office/powerpoint/2010/main" val="3906298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C7FE-5BBD-449B-BDEC-EFFAC1C2FBD0}"/>
              </a:ext>
            </a:extLst>
          </p:cNvPr>
          <p:cNvSpPr>
            <a:spLocks noGrp="1"/>
          </p:cNvSpPr>
          <p:nvPr>
            <p:ph type="title"/>
          </p:nvPr>
        </p:nvSpPr>
        <p:spPr>
          <a:xfrm>
            <a:off x="1778537" y="985838"/>
            <a:ext cx="3950751" cy="3562129"/>
          </a:xfrm>
        </p:spPr>
        <p:txBody>
          <a:bodyPr>
            <a:noAutofit/>
          </a:bodyPr>
          <a:lstStyle/>
          <a:p>
            <a:r>
              <a:rPr lang="en-US" sz="2000" dirty="0">
                <a:latin typeface="Arial" panose="020B0604020202020204" pitchFamily="34" charset="0"/>
                <a:cs typeface="Arial" panose="020B0604020202020204" pitchFamily="34" charset="0"/>
              </a:rPr>
              <a:t>The distribution of active employees across different departments.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"Research &amp; Development" department has the </a:t>
            </a:r>
            <a:r>
              <a:rPr lang="en-US" sz="2000" dirty="0">
                <a:solidFill>
                  <a:srgbClr val="DD83AA"/>
                </a:solidFill>
                <a:latin typeface="Arial" panose="020B0604020202020204" pitchFamily="34" charset="0"/>
                <a:cs typeface="Arial" panose="020B0604020202020204" pitchFamily="34" charset="0"/>
              </a:rPr>
              <a:t>highest</a:t>
            </a:r>
            <a:r>
              <a:rPr lang="en-US" sz="2000" dirty="0">
                <a:latin typeface="Arial" panose="020B0604020202020204" pitchFamily="34" charset="0"/>
                <a:cs typeface="Arial" panose="020B0604020202020204" pitchFamily="34" charset="0"/>
              </a:rPr>
              <a:t> number of employees, followed by "Sales" and "Human Resources."</a:t>
            </a:r>
          </a:p>
        </p:txBody>
      </p:sp>
      <p:pic>
        <p:nvPicPr>
          <p:cNvPr id="5" name="Content Placeholder 4">
            <a:extLst>
              <a:ext uri="{FF2B5EF4-FFF2-40B4-BE49-F238E27FC236}">
                <a16:creationId xmlns:a16="http://schemas.microsoft.com/office/drawing/2014/main" id="{58486975-AE28-4935-BEBC-5A0EA50CA2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1" y="985838"/>
            <a:ext cx="5748338" cy="5172075"/>
          </a:xfrm>
        </p:spPr>
      </p:pic>
    </p:spTree>
    <p:extLst>
      <p:ext uri="{BB962C8B-B14F-4D97-AF65-F5344CB8AC3E}">
        <p14:creationId xmlns:p14="http://schemas.microsoft.com/office/powerpoint/2010/main" val="2906268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8ECA8-46D9-47C8-9659-29C03E35E5C0}"/>
              </a:ext>
            </a:extLst>
          </p:cNvPr>
          <p:cNvSpPr>
            <a:spLocks noGrp="1"/>
          </p:cNvSpPr>
          <p:nvPr>
            <p:ph type="title"/>
          </p:nvPr>
        </p:nvSpPr>
        <p:spPr/>
        <p:txBody>
          <a:bodyPr/>
          <a:lstStyle/>
          <a:p>
            <a:r>
              <a:rPr lang="en-US" dirty="0" err="1">
                <a:solidFill>
                  <a:srgbClr val="D30B6F"/>
                </a:solidFill>
              </a:rPr>
              <a:t>Reccommendation</a:t>
            </a:r>
            <a:endParaRPr lang="en-US" dirty="0">
              <a:solidFill>
                <a:srgbClr val="D30B6F"/>
              </a:solidFill>
            </a:endParaRPr>
          </a:p>
        </p:txBody>
      </p:sp>
      <p:sp>
        <p:nvSpPr>
          <p:cNvPr id="3" name="Content Placeholder 2">
            <a:extLst>
              <a:ext uri="{FF2B5EF4-FFF2-40B4-BE49-F238E27FC236}">
                <a16:creationId xmlns:a16="http://schemas.microsoft.com/office/drawing/2014/main" id="{01CB11A2-11BA-4800-8C23-E5FD9FEC8D4B}"/>
              </a:ext>
            </a:extLst>
          </p:cNvPr>
          <p:cNvSpPr>
            <a:spLocks noGrp="1"/>
          </p:cNvSpPr>
          <p:nvPr>
            <p:ph idx="1"/>
          </p:nvPr>
        </p:nvSpPr>
        <p:spPr/>
        <p:txBody>
          <a:bodyPr>
            <a:normAutofit/>
          </a:bodyPr>
          <a:lstStyle/>
          <a:p>
            <a:r>
              <a:rPr lang="en-US" sz="2000" dirty="0" err="1">
                <a:latin typeface="Arial" panose="020B0604020202020204" pitchFamily="34" charset="0"/>
                <a:cs typeface="Arial" panose="020B0604020202020204" pitchFamily="34" charset="0"/>
              </a:rPr>
              <a:t>Implenent</a:t>
            </a:r>
            <a:r>
              <a:rPr lang="en-US" sz="2000" dirty="0">
                <a:latin typeface="Arial" panose="020B0604020202020204" pitchFamily="34" charset="0"/>
                <a:cs typeface="Arial" panose="020B0604020202020204" pitchFamily="34" charset="0"/>
              </a:rPr>
              <a:t> retention Strategies for  employee around 40 years old</a:t>
            </a:r>
          </a:p>
          <a:p>
            <a:r>
              <a:rPr lang="en-US" sz="2000" dirty="0">
                <a:latin typeface="Arial" panose="020B0604020202020204" pitchFamily="34" charset="0"/>
                <a:cs typeface="Arial" panose="020B0604020202020204" pitchFamily="34" charset="0"/>
              </a:rPr>
              <a:t>Address attrition in the research &amp; development department</a:t>
            </a:r>
          </a:p>
          <a:p>
            <a:r>
              <a:rPr lang="en-US" sz="2000" dirty="0">
                <a:latin typeface="Arial" panose="020B0604020202020204" pitchFamily="34" charset="0"/>
                <a:cs typeface="Arial" panose="020B0604020202020204" pitchFamily="34" charset="0"/>
              </a:rPr>
              <a:t>Pay attention to gender disparities in attrition and </a:t>
            </a:r>
            <a:r>
              <a:rPr lang="en-US" sz="2000" dirty="0" err="1">
                <a:latin typeface="Arial" panose="020B0604020202020204" pitchFamily="34" charset="0"/>
                <a:cs typeface="Arial" panose="020B0604020202020204" pitchFamily="34" charset="0"/>
              </a:rPr>
              <a:t>promot</a:t>
            </a:r>
            <a:r>
              <a:rPr lang="en-US" sz="2000" dirty="0">
                <a:latin typeface="Arial" panose="020B0604020202020204" pitchFamily="34" charset="0"/>
                <a:cs typeface="Arial" panose="020B0604020202020204" pitchFamily="34" charset="0"/>
              </a:rPr>
              <a:t> diversity and </a:t>
            </a:r>
            <a:r>
              <a:rPr lang="en-US" sz="2000" dirty="0" err="1">
                <a:latin typeface="Arial" panose="020B0604020202020204" pitchFamily="34" charset="0"/>
                <a:cs typeface="Arial" panose="020B0604020202020204" pitchFamily="34" charset="0"/>
              </a:rPr>
              <a:t>inclision</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Mitigate attrition in the Research &amp; development </a:t>
            </a:r>
          </a:p>
        </p:txBody>
      </p:sp>
    </p:spTree>
    <p:extLst>
      <p:ext uri="{BB962C8B-B14F-4D97-AF65-F5344CB8AC3E}">
        <p14:creationId xmlns:p14="http://schemas.microsoft.com/office/powerpoint/2010/main" val="1867138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A2992-36F6-4C44-AAD5-1C631EF4CCD5}"/>
              </a:ext>
            </a:extLst>
          </p:cNvPr>
          <p:cNvSpPr>
            <a:spLocks noGrp="1"/>
          </p:cNvSpPr>
          <p:nvPr>
            <p:ph type="title"/>
          </p:nvPr>
        </p:nvSpPr>
        <p:spPr>
          <a:xfrm>
            <a:off x="5060949" y="2694600"/>
            <a:ext cx="8915399" cy="1468800"/>
          </a:xfrm>
        </p:spPr>
        <p:txBody>
          <a:bodyPr>
            <a:normAutofit/>
          </a:bodyPr>
          <a:lstStyle/>
          <a:p>
            <a:r>
              <a:rPr lang="en-US" sz="6600" dirty="0">
                <a:latin typeface="Algerian" panose="04020705040A02060702" pitchFamily="82" charset="0"/>
              </a:rPr>
              <a:t>Thanks</a:t>
            </a:r>
          </a:p>
        </p:txBody>
      </p:sp>
    </p:spTree>
    <p:extLst>
      <p:ext uri="{BB962C8B-B14F-4D97-AF65-F5344CB8AC3E}">
        <p14:creationId xmlns:p14="http://schemas.microsoft.com/office/powerpoint/2010/main" val="1942184145"/>
      </p:ext>
    </p:extLst>
  </p:cSld>
  <p:clrMapOvr>
    <a:masterClrMapping/>
  </p:clrMapOvr>
</p:sld>
</file>

<file path=ppt/theme/theme1.xml><?xml version="1.0" encoding="utf-8"?>
<a:theme xmlns:a="http://schemas.openxmlformats.org/drawingml/2006/main" name="Wisp">
  <a:themeElements>
    <a:clrScheme name="Custom 1">
      <a:dk1>
        <a:sysClr val="windowText" lastClr="000000"/>
      </a:dk1>
      <a:lt1>
        <a:sysClr val="window" lastClr="FFFFFF"/>
      </a:lt1>
      <a:dk2>
        <a:srgbClr val="766F54"/>
      </a:dk2>
      <a:lt2>
        <a:srgbClr val="E3EACF"/>
      </a:lt2>
      <a:accent1>
        <a:srgbClr val="FC9274"/>
      </a:accent1>
      <a:accent2>
        <a:srgbClr val="DE7E18"/>
      </a:accent2>
      <a:accent3>
        <a:srgbClr val="9F8351"/>
      </a:accent3>
      <a:accent4>
        <a:srgbClr val="728653"/>
      </a:accent4>
      <a:accent5>
        <a:srgbClr val="92AA4C"/>
      </a:accent5>
      <a:accent6>
        <a:srgbClr val="6AAC91"/>
      </a:accent6>
      <a:hlink>
        <a:srgbClr val="ED6D4B"/>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86</TotalTime>
  <Words>574</Words>
  <Application>Microsoft Office PowerPoint</Application>
  <PresentationFormat>Widescreen</PresentationFormat>
  <Paragraphs>30</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Algerian</vt:lpstr>
      <vt:lpstr>-apple-system</vt:lpstr>
      <vt:lpstr>Arial</vt:lpstr>
      <vt:lpstr>Century Gothic</vt:lpstr>
      <vt:lpstr>Wingdings 3</vt:lpstr>
      <vt:lpstr>Wisp</vt:lpstr>
      <vt:lpstr>HR Analytics Attrition</vt:lpstr>
      <vt:lpstr>HR ANALYTICS </vt:lpstr>
      <vt:lpstr>OBJECTIVE </vt:lpstr>
      <vt:lpstr>HR Analytics For Attritions Insights</vt:lpstr>
      <vt:lpstr>Some Measures</vt:lpstr>
      <vt:lpstr>The job roles with the highest attrition are:      - Laboratory Technicians: 78        -Sales Executives: 60       - Research Scientists: 51   </vt:lpstr>
      <vt:lpstr>The attrition count is highest among employees who have been with the company for a shorter duration. There is a sharp decline in attrition as tenure increases, suggesting that early career stages are critical for retention efforts</vt:lpstr>
      <vt:lpstr> Departments with the highest attrition are:      - Research &amp; Development: 133 (56.12%)      - Sales: 92 (38.82%)    - Targeted interventions in these departments could help reduce turnover and improve overall departmental stability.</vt:lpstr>
      <vt:lpstr>The majority are from Life Sciences (133, 56.12%), followed by Medical (99, 41.77%)</vt:lpstr>
      <vt:lpstr>The highest attrition rate is among employees aged 18-29 (27.91%), followed by those aged 30-39 (14.31%).</vt:lpstr>
      <vt:lpstr>HR Analytics For Active Employee Insights</vt:lpstr>
      <vt:lpstr>This table displays the job satisfaction rating for different job roles on a scale from 1 to 4. The total count of ratings for each job role is also shown.For example, the "Healthcare Representative" role has a total of 131 ratings distributed across the satisfaction levels</vt:lpstr>
      <vt:lpstr>The majority of employees have a background in Life Sciences (58.15%), followed by Medical (38.36%) and Marketing (3.49%)</vt:lpstr>
      <vt:lpstr>The age groups shown are 30-39, 40-49, 18-29, and 50-60, with the majority of employees in the 30-39 age group (622 employees).</vt:lpstr>
      <vt:lpstr>The ratings are evenly distributed among "Human Resources," "Research &amp; Development," and "Sales,"  each with approximately 33.33% of the total ratings.</vt:lpstr>
      <vt:lpstr>The distribution of active employees across different departments. The "Research &amp; Development" department has the highest number of employees, followed by "Sales" and "Human Resources."</vt:lpstr>
      <vt:lpstr>Reccommendation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 Attrition</dc:title>
  <dc:creator>Ghada Abdeen Hassan</dc:creator>
  <cp:lastModifiedBy>Ghada Abdeen Hassan</cp:lastModifiedBy>
  <cp:revision>10</cp:revision>
  <dcterms:created xsi:type="dcterms:W3CDTF">2024-08-02T09:46:15Z</dcterms:created>
  <dcterms:modified xsi:type="dcterms:W3CDTF">2024-08-02T11:12:54Z</dcterms:modified>
</cp:coreProperties>
</file>